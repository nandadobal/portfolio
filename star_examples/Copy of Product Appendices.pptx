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nter"/>
      <p:regular r:id="rId20"/>
      <p:bold r:id="rId21"/>
    </p:embeddedFont>
    <p:embeddedFont>
      <p:font typeface="Inter Medium"/>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11" Type="http://schemas.openxmlformats.org/officeDocument/2006/relationships/slide" Target="slides/slide6.xml"/><Relationship Id="rId22" Type="http://schemas.openxmlformats.org/officeDocument/2006/relationships/font" Target="fonts/InterMedium-regular.fntdata"/><Relationship Id="rId10" Type="http://schemas.openxmlformats.org/officeDocument/2006/relationships/slide" Target="slides/slide5.xml"/><Relationship Id="rId21" Type="http://schemas.openxmlformats.org/officeDocument/2006/relationships/font" Target="fonts/Inter-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Inter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16a662215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16a662215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18e0368e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18e0368e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18e0368e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18e0368e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18e0368e9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18e0368e9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8e0368e9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8e0368e9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18e0368e9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18e0368e9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8e0368e9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8e0368e9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1f2adc245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1f2adc245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8e0368e9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18e0368e9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09cc41fb5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209cc41fb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1f2adc245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1f2adc245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09cc41fb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209cc41fb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8e0368e9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8e0368e9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209cc41fb5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209cc41fb5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0.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6.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327400" y="2930307"/>
            <a:ext cx="44892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Clr>
                <a:schemeClr val="dk1"/>
              </a:buClr>
              <a:buSzPts val="1100"/>
              <a:buFont typeface="Arial"/>
              <a:buNone/>
            </a:pPr>
            <a:r>
              <a:rPr lang="en">
                <a:solidFill>
                  <a:srgbClr val="17635E"/>
                </a:solidFill>
                <a:latin typeface="Inter Medium"/>
                <a:ea typeface="Inter Medium"/>
                <a:cs typeface="Inter Medium"/>
                <a:sym typeface="Inter Medium"/>
              </a:rPr>
              <a:t>Product Appendices</a:t>
            </a:r>
            <a:endParaRPr>
              <a:solidFill>
                <a:srgbClr val="17635E"/>
              </a:solidFill>
              <a:latin typeface="Inter Medium"/>
              <a:ea typeface="Inter Medium"/>
              <a:cs typeface="Inter Medium"/>
              <a:sym typeface="Inter Medium"/>
            </a:endParaRPr>
          </a:p>
        </p:txBody>
      </p:sp>
      <p:pic>
        <p:nvPicPr>
          <p:cNvPr id="55" name="Google Shape;55;p13"/>
          <p:cNvPicPr preferRelativeResize="0"/>
          <p:nvPr/>
        </p:nvPicPr>
        <p:blipFill>
          <a:blip r:embed="rId3">
            <a:alphaModFix/>
          </a:blip>
          <a:stretch>
            <a:fillRect/>
          </a:stretch>
        </p:blipFill>
        <p:spPr>
          <a:xfrm>
            <a:off x="3115048" y="1812999"/>
            <a:ext cx="2913900" cy="856526"/>
          </a:xfrm>
          <a:prstGeom prst="rect">
            <a:avLst/>
          </a:prstGeom>
          <a:noFill/>
          <a:ln>
            <a:noFill/>
          </a:ln>
        </p:spPr>
      </p:pic>
      <p:pic>
        <p:nvPicPr>
          <p:cNvPr id="56" name="Google Shape;56;p13"/>
          <p:cNvPicPr preferRelativeResize="0"/>
          <p:nvPr/>
        </p:nvPicPr>
        <p:blipFill>
          <a:blip r:embed="rId4">
            <a:alphaModFix/>
          </a:blip>
          <a:stretch>
            <a:fillRect/>
          </a:stretch>
        </p:blipFill>
        <p:spPr>
          <a:xfrm>
            <a:off x="8832300" y="4830075"/>
            <a:ext cx="243700" cy="220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p:nvPr/>
        </p:nvSpPr>
        <p:spPr>
          <a:xfrm>
            <a:off x="454125" y="991625"/>
            <a:ext cx="3657600" cy="3910200"/>
          </a:xfrm>
          <a:prstGeom prst="rect">
            <a:avLst/>
          </a:prstGeom>
          <a:noFill/>
          <a:ln cap="flat" cmpd="sng" w="9525">
            <a:solidFill>
              <a:srgbClr val="73CB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type="title"/>
          </p:nvPr>
        </p:nvSpPr>
        <p:spPr>
          <a:xfrm>
            <a:off x="311700" y="26765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solidFill>
                  <a:srgbClr val="17635E"/>
                </a:solidFill>
                <a:latin typeface="Inter"/>
                <a:ea typeface="Inter"/>
                <a:cs typeface="Inter"/>
                <a:sym typeface="Inter"/>
              </a:rPr>
              <a:t>Proprietary tech stack for healthcare data</a:t>
            </a:r>
            <a:endParaRPr/>
          </a:p>
        </p:txBody>
      </p:sp>
      <p:sp>
        <p:nvSpPr>
          <p:cNvPr id="63" name="Google Shape;63;p14"/>
          <p:cNvSpPr txBox="1"/>
          <p:nvPr/>
        </p:nvSpPr>
        <p:spPr>
          <a:xfrm>
            <a:off x="456825" y="1407696"/>
            <a:ext cx="3652200" cy="334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The typical approach to delivering resilient and high uptime web services is to incur high upfront costs in server deployment and maintenance. Adopting Serverless allows us to minimise (or eliminate) upfront operational investments without losing on resilience or uptime. Serverless allows us:</a:t>
            </a:r>
            <a:endParaRPr sz="800">
              <a:solidFill>
                <a:srgbClr val="595959"/>
              </a:solidFill>
              <a:latin typeface="Inter"/>
              <a:ea typeface="Inter"/>
              <a:cs typeface="Inter"/>
              <a:sym typeface="Inter"/>
            </a:endParaRPr>
          </a:p>
          <a:p>
            <a:pPr indent="0" lvl="0" marL="0" rtl="0" algn="l">
              <a:lnSpc>
                <a:spcPct val="115000"/>
              </a:lnSpc>
              <a:spcBef>
                <a:spcPts val="0"/>
              </a:spcBef>
              <a:spcAft>
                <a:spcPts val="0"/>
              </a:spcAft>
              <a:buClr>
                <a:srgbClr val="000000"/>
              </a:buClr>
              <a:buSzPts val="1100"/>
              <a:buFont typeface="Arial"/>
              <a:buNone/>
            </a:pPr>
            <a:r>
              <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pay for our infrastructure based on usage instead of capacity;</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have transparent, zero-cost scaling beyond the first thousand or million users;</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remove the need for larger engineering and operational teams within the business;</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1000"/>
              </a:spcAft>
              <a:buClr>
                <a:srgbClr val="595959"/>
              </a:buClr>
              <a:buSzPts val="800"/>
              <a:buFont typeface="Inter"/>
              <a:buAutoNum type="arabicPeriod"/>
            </a:pPr>
            <a:r>
              <a:rPr lang="en" sz="800">
                <a:solidFill>
                  <a:srgbClr val="595959"/>
                </a:solidFill>
                <a:latin typeface="Inter"/>
                <a:ea typeface="Inter"/>
                <a:cs typeface="Inter"/>
                <a:sym typeface="Inter"/>
              </a:rPr>
              <a:t>To deploy and test new features in seconds and parallel, virtually for free.</a:t>
            </a:r>
            <a:endParaRPr sz="800">
              <a:solidFill>
                <a:srgbClr val="595959"/>
              </a:solidFill>
              <a:latin typeface="Inter"/>
              <a:ea typeface="Inter"/>
              <a:cs typeface="Inter"/>
              <a:sym typeface="Inter"/>
            </a:endParaRPr>
          </a:p>
        </p:txBody>
      </p:sp>
      <p:sp>
        <p:nvSpPr>
          <p:cNvPr id="64" name="Google Shape;64;p14"/>
          <p:cNvSpPr/>
          <p:nvPr/>
        </p:nvSpPr>
        <p:spPr>
          <a:xfrm>
            <a:off x="454050" y="923925"/>
            <a:ext cx="3657600" cy="400200"/>
          </a:xfrm>
          <a:prstGeom prst="rect">
            <a:avLst/>
          </a:prstGeom>
          <a:solidFill>
            <a:srgbClr val="D2F3F1"/>
          </a:solidFill>
          <a:ln cap="flat" cmpd="sng" w="9525">
            <a:solidFill>
              <a:srgbClr val="73CB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7635E"/>
                </a:solidFill>
                <a:latin typeface="Inter"/>
                <a:ea typeface="Inter"/>
                <a:cs typeface="Inter"/>
                <a:sym typeface="Inter"/>
              </a:rPr>
              <a:t>Serverless</a:t>
            </a:r>
            <a:endParaRPr b="1" sz="1200">
              <a:solidFill>
                <a:srgbClr val="17635E"/>
              </a:solidFill>
              <a:latin typeface="Inter"/>
              <a:ea typeface="Inter"/>
              <a:cs typeface="Inter"/>
              <a:sym typeface="Inter"/>
            </a:endParaRPr>
          </a:p>
        </p:txBody>
      </p:sp>
      <p:sp>
        <p:nvSpPr>
          <p:cNvPr id="65" name="Google Shape;65;p14"/>
          <p:cNvSpPr/>
          <p:nvPr/>
        </p:nvSpPr>
        <p:spPr>
          <a:xfrm>
            <a:off x="4855925" y="991625"/>
            <a:ext cx="3657600" cy="3910200"/>
          </a:xfrm>
          <a:prstGeom prst="rect">
            <a:avLst/>
          </a:prstGeom>
          <a:noFill/>
          <a:ln cap="flat" cmpd="sng" w="9525">
            <a:solidFill>
              <a:srgbClr val="73CB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txBox="1"/>
          <p:nvPr/>
        </p:nvSpPr>
        <p:spPr>
          <a:xfrm>
            <a:off x="4858625" y="1407700"/>
            <a:ext cx="3652200" cy="349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Traditionally there is an inherent trade-off within data storage technologies between rigid relational data structures and development speed. Medical data is inherently rigid and benefits significantly from solid constraints imposed by storage mechanisms. On the other hand, startups require rapid experimentation and delivery that benefit considerably from low-constraint environments. Using PostgREST allows us to avoid this trade-off altogether. It enables us:</a:t>
            </a:r>
            <a:br>
              <a:rPr lang="en" sz="800">
                <a:solidFill>
                  <a:srgbClr val="595959"/>
                </a:solidFill>
                <a:latin typeface="Inter"/>
                <a:ea typeface="Inter"/>
                <a:cs typeface="Inter"/>
                <a:sym typeface="Inter"/>
              </a:rPr>
            </a:br>
            <a:endParaRPr sz="800">
              <a:solidFill>
                <a:srgbClr val="595959"/>
              </a:solidFill>
              <a:latin typeface="Inter"/>
              <a:ea typeface="Inter"/>
              <a:cs typeface="Inter"/>
              <a:sym typeface="Inter"/>
            </a:endParaRPr>
          </a:p>
          <a:p>
            <a:pPr indent="-279400" lvl="0" marL="457200" rtl="0" algn="l">
              <a:lnSpc>
                <a:spcPct val="115000"/>
              </a:lnSpc>
              <a:spcBef>
                <a:spcPts val="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prototype and deploy new features rapidly without losing the ability to introduce rigidity on crystalising parts of the data model;</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handle both data storage and access responsibilities in the same way and the same place - database migrations;</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have industry-leading standards of data security, storage, resilience and backups;</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have out-of-the-box integration with virtually every data lake system out there;</a:t>
            </a:r>
            <a:endParaRPr sz="800">
              <a:solidFill>
                <a:srgbClr val="595959"/>
              </a:solidFill>
              <a:latin typeface="Inter"/>
              <a:ea typeface="Inter"/>
              <a:cs typeface="Inter"/>
              <a:sym typeface="Inter"/>
            </a:endParaRPr>
          </a:p>
          <a:p>
            <a:pPr indent="-279400" lvl="0" marL="457200" rtl="0" algn="l">
              <a:lnSpc>
                <a:spcPct val="115000"/>
              </a:lnSpc>
              <a:spcBef>
                <a:spcPts val="1000"/>
              </a:spcBef>
              <a:spcAft>
                <a:spcPts val="0"/>
              </a:spcAft>
              <a:buClr>
                <a:srgbClr val="595959"/>
              </a:buClr>
              <a:buSzPts val="800"/>
              <a:buFont typeface="Inter"/>
              <a:buAutoNum type="arabicPeriod"/>
            </a:pPr>
            <a:r>
              <a:rPr lang="en" sz="800">
                <a:solidFill>
                  <a:srgbClr val="595959"/>
                </a:solidFill>
                <a:latin typeface="Inter"/>
                <a:ea typeface="Inter"/>
                <a:cs typeface="Inter"/>
                <a:sym typeface="Inter"/>
              </a:rPr>
              <a:t>To have zero vendor lock-in. Our stack does not depend on the existence of an individual third party.</a:t>
            </a:r>
            <a:endParaRPr sz="800">
              <a:solidFill>
                <a:srgbClr val="595959"/>
              </a:solidFill>
              <a:latin typeface="Inter"/>
              <a:ea typeface="Inter"/>
              <a:cs typeface="Inter"/>
              <a:sym typeface="Inter"/>
            </a:endParaRPr>
          </a:p>
          <a:p>
            <a:pPr indent="0" lvl="0" marL="0" rtl="0" algn="l">
              <a:lnSpc>
                <a:spcPct val="115000"/>
              </a:lnSpc>
              <a:spcBef>
                <a:spcPts val="1000"/>
              </a:spcBef>
              <a:spcAft>
                <a:spcPts val="0"/>
              </a:spcAft>
              <a:buNone/>
            </a:pPr>
            <a:r>
              <a:t/>
            </a:r>
            <a:endParaRPr sz="800">
              <a:solidFill>
                <a:srgbClr val="595959"/>
              </a:solidFill>
              <a:latin typeface="Inter"/>
              <a:ea typeface="Inter"/>
              <a:cs typeface="Inter"/>
              <a:sym typeface="Inter"/>
            </a:endParaRPr>
          </a:p>
        </p:txBody>
      </p:sp>
      <p:sp>
        <p:nvSpPr>
          <p:cNvPr id="67" name="Google Shape;67;p14"/>
          <p:cNvSpPr/>
          <p:nvPr/>
        </p:nvSpPr>
        <p:spPr>
          <a:xfrm>
            <a:off x="4855850" y="923925"/>
            <a:ext cx="3657600" cy="400200"/>
          </a:xfrm>
          <a:prstGeom prst="rect">
            <a:avLst/>
          </a:prstGeom>
          <a:solidFill>
            <a:srgbClr val="D2F3F1"/>
          </a:solidFill>
          <a:ln cap="flat" cmpd="sng" w="9525">
            <a:solidFill>
              <a:srgbClr val="73CBC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7635E"/>
                </a:solidFill>
                <a:latin typeface="Inter"/>
                <a:ea typeface="Inter"/>
                <a:cs typeface="Inter"/>
                <a:sym typeface="Inter"/>
              </a:rPr>
              <a:t>PostgreSQL via PostgREST</a:t>
            </a:r>
            <a:endParaRPr b="1" sz="1200">
              <a:solidFill>
                <a:srgbClr val="17635E"/>
              </a:solidFill>
              <a:latin typeface="Inter"/>
              <a:ea typeface="Inter"/>
              <a:cs typeface="Inter"/>
              <a:sym typeface="Inter"/>
            </a:endParaRPr>
          </a:p>
        </p:txBody>
      </p:sp>
      <p:sp>
        <p:nvSpPr>
          <p:cNvPr id="68" name="Google Shape;68;p14"/>
          <p:cNvSpPr txBox="1"/>
          <p:nvPr>
            <p:ph type="title"/>
          </p:nvPr>
        </p:nvSpPr>
        <p:spPr>
          <a:xfrm>
            <a:off x="397550" y="-57270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solidFill>
                  <a:srgbClr val="17635E"/>
                </a:solidFill>
                <a:latin typeface="Inter"/>
                <a:ea typeface="Inter"/>
                <a:cs typeface="Inter"/>
                <a:sym typeface="Inter"/>
              </a:rPr>
              <a:t>A</a:t>
            </a:r>
            <a:r>
              <a:rPr b="1" lang="en" sz="2000">
                <a:solidFill>
                  <a:srgbClr val="17635E"/>
                </a:solidFill>
                <a:latin typeface="Inter"/>
                <a:ea typeface="Inter"/>
                <a:cs typeface="Inter"/>
                <a:sym typeface="Inter"/>
              </a:rPr>
              <a:t> modern tech stack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219400" y="192625"/>
            <a:ext cx="1933200" cy="79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Bia’s Architecture</a:t>
            </a:r>
            <a:endParaRPr sz="1400"/>
          </a:p>
        </p:txBody>
      </p:sp>
      <p:pic>
        <p:nvPicPr>
          <p:cNvPr id="74" name="Google Shape;74;p15"/>
          <p:cNvPicPr preferRelativeResize="0"/>
          <p:nvPr/>
        </p:nvPicPr>
        <p:blipFill rotWithShape="1">
          <a:blip r:embed="rId3">
            <a:alphaModFix/>
          </a:blip>
          <a:srcRect b="13442" l="0" r="0" t="0"/>
          <a:stretch/>
        </p:blipFill>
        <p:spPr>
          <a:xfrm>
            <a:off x="2060413" y="192625"/>
            <a:ext cx="5023175" cy="4758249"/>
          </a:xfrm>
          <a:prstGeom prst="rect">
            <a:avLst/>
          </a:prstGeom>
          <a:noFill/>
          <a:ln>
            <a:noFill/>
          </a:ln>
        </p:spPr>
      </p:pic>
      <p:pic>
        <p:nvPicPr>
          <p:cNvPr id="75" name="Google Shape;75;p15"/>
          <p:cNvPicPr preferRelativeResize="0"/>
          <p:nvPr/>
        </p:nvPicPr>
        <p:blipFill rotWithShape="1">
          <a:blip r:embed="rId3">
            <a:alphaModFix/>
          </a:blip>
          <a:srcRect b="0" l="81581" r="0" t="85465"/>
          <a:stretch/>
        </p:blipFill>
        <p:spPr>
          <a:xfrm>
            <a:off x="7613849" y="3852752"/>
            <a:ext cx="1313226" cy="11340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nvSpPr>
        <p:spPr>
          <a:xfrm>
            <a:off x="6946200" y="3704025"/>
            <a:ext cx="1631100" cy="11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P</a:t>
            </a:r>
            <a:r>
              <a:rPr lang="en" sz="800">
                <a:solidFill>
                  <a:srgbClr val="595959"/>
                </a:solidFill>
                <a:latin typeface="Inter"/>
                <a:ea typeface="Inter"/>
                <a:cs typeface="Inter"/>
                <a:sym typeface="Inter"/>
              </a:rPr>
              <a:t>atients can access session resources, edit their personal information, and join the video consultation room using our securely embedded video service.</a:t>
            </a:r>
            <a:endParaRPr sz="800">
              <a:solidFill>
                <a:srgbClr val="595959"/>
              </a:solidFill>
              <a:latin typeface="Inter"/>
              <a:ea typeface="Inter"/>
              <a:cs typeface="Inter"/>
              <a:sym typeface="Inter"/>
            </a:endParaRPr>
          </a:p>
        </p:txBody>
      </p:sp>
      <p:pic>
        <p:nvPicPr>
          <p:cNvPr id="81" name="Google Shape;81;p16"/>
          <p:cNvPicPr preferRelativeResize="0"/>
          <p:nvPr/>
        </p:nvPicPr>
        <p:blipFill>
          <a:blip r:embed="rId3">
            <a:alphaModFix/>
          </a:blip>
          <a:stretch>
            <a:fillRect/>
          </a:stretch>
        </p:blipFill>
        <p:spPr>
          <a:xfrm>
            <a:off x="377700" y="633475"/>
            <a:ext cx="6282327" cy="4199449"/>
          </a:xfrm>
          <a:prstGeom prst="rect">
            <a:avLst/>
          </a:prstGeom>
          <a:noFill/>
          <a:ln>
            <a:noFill/>
          </a:ln>
          <a:effectLst>
            <a:outerShdw blurRad="57150" rotWithShape="0" algn="bl" dir="5400000" dist="19050">
              <a:srgbClr val="000000">
                <a:alpha val="50000"/>
              </a:srgbClr>
            </a:outerShdw>
          </a:effectLst>
        </p:spPr>
      </p:pic>
      <p:pic>
        <p:nvPicPr>
          <p:cNvPr id="82" name="Google Shape;82;p16"/>
          <p:cNvPicPr preferRelativeResize="0"/>
          <p:nvPr/>
        </p:nvPicPr>
        <p:blipFill>
          <a:blip r:embed="rId4">
            <a:alphaModFix/>
          </a:blip>
          <a:stretch>
            <a:fillRect/>
          </a:stretch>
        </p:blipFill>
        <p:spPr>
          <a:xfrm>
            <a:off x="7012875" y="633475"/>
            <a:ext cx="1321151" cy="2859302"/>
          </a:xfrm>
          <a:prstGeom prst="rect">
            <a:avLst/>
          </a:prstGeom>
          <a:noFill/>
          <a:ln>
            <a:noFill/>
          </a:ln>
          <a:effectLst>
            <a:outerShdw blurRad="57150" rotWithShape="0" algn="bl" dir="5400000" dist="19050">
              <a:srgbClr val="000000">
                <a:alpha val="50000"/>
              </a:srgbClr>
            </a:outerShdw>
          </a:effectLst>
        </p:spPr>
      </p:pic>
      <p:sp>
        <p:nvSpPr>
          <p:cNvPr id="83" name="Google Shape;83;p16"/>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Patient view, consultation page</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nvSpPr>
        <p:spPr>
          <a:xfrm>
            <a:off x="6999125" y="3771075"/>
            <a:ext cx="1631100" cy="112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Patients can track their symptoms on web or mobile and compare severity with those of other people.</a:t>
            </a:r>
            <a:endParaRPr sz="800">
              <a:solidFill>
                <a:srgbClr val="595959"/>
              </a:solidFill>
              <a:latin typeface="Inter"/>
              <a:ea typeface="Inter"/>
              <a:cs typeface="Inter"/>
              <a:sym typeface="Inter"/>
            </a:endParaRPr>
          </a:p>
        </p:txBody>
      </p:sp>
      <p:pic>
        <p:nvPicPr>
          <p:cNvPr id="89" name="Google Shape;89;p17"/>
          <p:cNvPicPr preferRelativeResize="0"/>
          <p:nvPr/>
        </p:nvPicPr>
        <p:blipFill>
          <a:blip r:embed="rId3">
            <a:alphaModFix/>
          </a:blip>
          <a:stretch>
            <a:fillRect/>
          </a:stretch>
        </p:blipFill>
        <p:spPr>
          <a:xfrm>
            <a:off x="397075" y="614325"/>
            <a:ext cx="6366275" cy="4236926"/>
          </a:xfrm>
          <a:prstGeom prst="rect">
            <a:avLst/>
          </a:prstGeom>
          <a:noFill/>
          <a:ln>
            <a:noFill/>
          </a:ln>
          <a:effectLst>
            <a:outerShdw blurRad="57150" rotWithShape="0" algn="bl" dir="5400000" dist="19050">
              <a:srgbClr val="000000">
                <a:alpha val="50000"/>
              </a:srgbClr>
            </a:outerShdw>
          </a:effectLst>
        </p:spPr>
      </p:pic>
      <p:pic>
        <p:nvPicPr>
          <p:cNvPr id="90" name="Google Shape;90;p17"/>
          <p:cNvPicPr preferRelativeResize="0"/>
          <p:nvPr/>
        </p:nvPicPr>
        <p:blipFill rotWithShape="1">
          <a:blip r:embed="rId4">
            <a:alphaModFix/>
          </a:blip>
          <a:srcRect b="0" l="0" r="0" t="0"/>
          <a:stretch/>
        </p:blipFill>
        <p:spPr>
          <a:xfrm>
            <a:off x="7058300" y="614325"/>
            <a:ext cx="1384124" cy="2995574"/>
          </a:xfrm>
          <a:prstGeom prst="rect">
            <a:avLst/>
          </a:prstGeom>
          <a:noFill/>
          <a:ln>
            <a:noFill/>
          </a:ln>
          <a:effectLst>
            <a:outerShdw blurRad="57150" rotWithShape="0" algn="bl" dir="5400000" dist="19050">
              <a:srgbClr val="000000">
                <a:alpha val="50000"/>
              </a:srgbClr>
            </a:outerShdw>
          </a:effectLst>
        </p:spPr>
      </p:pic>
      <p:sp>
        <p:nvSpPr>
          <p:cNvPr id="91" name="Google Shape;91;p17"/>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Patient view, symptom tracking</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nvSpPr>
        <p:spPr>
          <a:xfrm>
            <a:off x="7104600" y="3831300"/>
            <a:ext cx="1677000" cy="131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Available 48 hours after a consultation, patients can review their treatment plan and order treatments directly on the portal. Medication is delivered within 48h.</a:t>
            </a:r>
            <a:endParaRPr sz="800">
              <a:solidFill>
                <a:srgbClr val="595959"/>
              </a:solidFill>
              <a:latin typeface="Inter"/>
              <a:ea typeface="Inter"/>
              <a:cs typeface="Inter"/>
              <a:sym typeface="Inter"/>
            </a:endParaRPr>
          </a:p>
        </p:txBody>
      </p:sp>
      <p:pic>
        <p:nvPicPr>
          <p:cNvPr id="97" name="Google Shape;97;p18"/>
          <p:cNvPicPr preferRelativeResize="0"/>
          <p:nvPr/>
        </p:nvPicPr>
        <p:blipFill>
          <a:blip r:embed="rId3">
            <a:alphaModFix/>
          </a:blip>
          <a:stretch>
            <a:fillRect/>
          </a:stretch>
        </p:blipFill>
        <p:spPr>
          <a:xfrm>
            <a:off x="362250" y="620774"/>
            <a:ext cx="6431124" cy="4075999"/>
          </a:xfrm>
          <a:prstGeom prst="rect">
            <a:avLst/>
          </a:prstGeom>
          <a:noFill/>
          <a:ln>
            <a:noFill/>
          </a:ln>
          <a:effectLst>
            <a:outerShdw blurRad="57150" rotWithShape="0" algn="bl" dir="5400000" dist="19050">
              <a:srgbClr val="000000">
                <a:alpha val="50000"/>
              </a:srgbClr>
            </a:outerShdw>
          </a:effectLst>
        </p:spPr>
      </p:pic>
      <p:pic>
        <p:nvPicPr>
          <p:cNvPr id="98" name="Google Shape;98;p18"/>
          <p:cNvPicPr preferRelativeResize="0"/>
          <p:nvPr/>
        </p:nvPicPr>
        <p:blipFill>
          <a:blip r:embed="rId4">
            <a:alphaModFix/>
          </a:blip>
          <a:stretch>
            <a:fillRect/>
          </a:stretch>
        </p:blipFill>
        <p:spPr>
          <a:xfrm>
            <a:off x="7162900" y="670775"/>
            <a:ext cx="1401951" cy="3034152"/>
          </a:xfrm>
          <a:prstGeom prst="rect">
            <a:avLst/>
          </a:prstGeom>
          <a:noFill/>
          <a:ln>
            <a:noFill/>
          </a:ln>
          <a:effectLst>
            <a:outerShdw blurRad="57150" rotWithShape="0" algn="bl" dir="5400000" dist="19050">
              <a:srgbClr val="000000">
                <a:alpha val="50000"/>
              </a:srgbClr>
            </a:outerShdw>
          </a:effectLst>
        </p:spPr>
      </p:pic>
      <p:sp>
        <p:nvSpPr>
          <p:cNvPr id="99" name="Google Shape;99;p18"/>
          <p:cNvSpPr txBox="1"/>
          <p:nvPr>
            <p:ph type="title"/>
          </p:nvPr>
        </p:nvSpPr>
        <p:spPr>
          <a:xfrm>
            <a:off x="28725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Patient view, treatment plan</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nvSpPr>
        <p:spPr>
          <a:xfrm>
            <a:off x="7497875" y="3939300"/>
            <a:ext cx="1367400" cy="120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Bia Care a</a:t>
            </a:r>
            <a:r>
              <a:rPr lang="en" sz="800">
                <a:solidFill>
                  <a:srgbClr val="595959"/>
                </a:solidFill>
                <a:latin typeface="Inter"/>
                <a:ea typeface="Inter"/>
                <a:cs typeface="Inter"/>
                <a:sym typeface="Inter"/>
              </a:rPr>
              <a:t>dmins can seamlessly schedule consultations, coordinating clinicians, health coaches, and patients.</a:t>
            </a:r>
            <a:endParaRPr sz="800">
              <a:solidFill>
                <a:srgbClr val="595959"/>
              </a:solidFill>
              <a:latin typeface="Inter"/>
              <a:ea typeface="Inter"/>
              <a:cs typeface="Inter"/>
              <a:sym typeface="Inter"/>
            </a:endParaRPr>
          </a:p>
        </p:txBody>
      </p:sp>
      <p:sp>
        <p:nvSpPr>
          <p:cNvPr id="105" name="Google Shape;105;p19"/>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Admin view, schedules page</a:t>
            </a:r>
            <a:endParaRPr sz="2200"/>
          </a:p>
        </p:txBody>
      </p:sp>
      <p:pic>
        <p:nvPicPr>
          <p:cNvPr id="106" name="Google Shape;106;p19"/>
          <p:cNvPicPr preferRelativeResize="0"/>
          <p:nvPr/>
        </p:nvPicPr>
        <p:blipFill>
          <a:blip r:embed="rId3">
            <a:alphaModFix/>
          </a:blip>
          <a:stretch>
            <a:fillRect/>
          </a:stretch>
        </p:blipFill>
        <p:spPr>
          <a:xfrm>
            <a:off x="413525" y="616550"/>
            <a:ext cx="6989952" cy="40512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nvSpPr>
        <p:spPr>
          <a:xfrm>
            <a:off x="7263400" y="3939300"/>
            <a:ext cx="1367400" cy="120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Patients are automatically segmented into groups for their consultations. </a:t>
            </a:r>
            <a:br>
              <a:rPr lang="en" sz="800">
                <a:solidFill>
                  <a:srgbClr val="595959"/>
                </a:solidFill>
                <a:latin typeface="Inter"/>
                <a:ea typeface="Inter"/>
                <a:cs typeface="Inter"/>
                <a:sym typeface="Inter"/>
              </a:rPr>
            </a:br>
            <a:r>
              <a:rPr lang="en" sz="800">
                <a:solidFill>
                  <a:srgbClr val="595959"/>
                </a:solidFill>
                <a:latin typeface="Inter"/>
                <a:ea typeface="Inter"/>
                <a:cs typeface="Inter"/>
                <a:sym typeface="Inter"/>
              </a:rPr>
              <a:t>Additionally, the portal tracks attendance and treatments issued.</a:t>
            </a:r>
            <a:endParaRPr sz="800">
              <a:solidFill>
                <a:srgbClr val="595959"/>
              </a:solidFill>
              <a:latin typeface="Inter"/>
              <a:ea typeface="Inter"/>
              <a:cs typeface="Inter"/>
              <a:sym typeface="Inter"/>
            </a:endParaRPr>
          </a:p>
        </p:txBody>
      </p:sp>
      <p:sp>
        <p:nvSpPr>
          <p:cNvPr id="112" name="Google Shape;112;p20"/>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Admin view, patient page</a:t>
            </a:r>
            <a:endParaRPr sz="2200"/>
          </a:p>
        </p:txBody>
      </p:sp>
      <p:pic>
        <p:nvPicPr>
          <p:cNvPr id="113" name="Google Shape;113;p20"/>
          <p:cNvPicPr preferRelativeResize="0"/>
          <p:nvPr/>
        </p:nvPicPr>
        <p:blipFill>
          <a:blip r:embed="rId3">
            <a:alphaModFix/>
          </a:blip>
          <a:stretch>
            <a:fillRect/>
          </a:stretch>
        </p:blipFill>
        <p:spPr>
          <a:xfrm>
            <a:off x="430750" y="630425"/>
            <a:ext cx="6638423" cy="42656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1"/>
          <p:cNvPicPr preferRelativeResize="0"/>
          <p:nvPr/>
        </p:nvPicPr>
        <p:blipFill>
          <a:blip r:embed="rId3">
            <a:alphaModFix/>
          </a:blip>
          <a:stretch>
            <a:fillRect/>
          </a:stretch>
        </p:blipFill>
        <p:spPr>
          <a:xfrm>
            <a:off x="160775" y="854550"/>
            <a:ext cx="5499351" cy="3434400"/>
          </a:xfrm>
          <a:prstGeom prst="rect">
            <a:avLst/>
          </a:prstGeom>
          <a:noFill/>
          <a:ln>
            <a:noFill/>
          </a:ln>
          <a:effectLst>
            <a:outerShdw blurRad="57150" rotWithShape="0" algn="bl" dir="5400000" dist="19050">
              <a:srgbClr val="000000">
                <a:alpha val="50000"/>
              </a:srgbClr>
            </a:outerShdw>
          </a:effectLst>
        </p:spPr>
      </p:pic>
      <p:pic>
        <p:nvPicPr>
          <p:cNvPr id="119" name="Google Shape;119;p21"/>
          <p:cNvPicPr preferRelativeResize="0"/>
          <p:nvPr/>
        </p:nvPicPr>
        <p:blipFill>
          <a:blip r:embed="rId4">
            <a:alphaModFix/>
          </a:blip>
          <a:stretch>
            <a:fillRect/>
          </a:stretch>
        </p:blipFill>
        <p:spPr>
          <a:xfrm>
            <a:off x="5789101" y="1438025"/>
            <a:ext cx="3137976" cy="2102199"/>
          </a:xfrm>
          <a:prstGeom prst="rect">
            <a:avLst/>
          </a:prstGeom>
          <a:noFill/>
          <a:ln>
            <a:noFill/>
          </a:ln>
          <a:effectLst>
            <a:outerShdw blurRad="57150" rotWithShape="0" algn="bl" dir="5400000" dist="19050">
              <a:srgbClr val="000000">
                <a:alpha val="50000"/>
              </a:srgbClr>
            </a:outerShdw>
          </a:effectLst>
        </p:spPr>
      </p:pic>
      <p:sp>
        <p:nvSpPr>
          <p:cNvPr id="120" name="Google Shape;120;p21"/>
          <p:cNvSpPr txBox="1"/>
          <p:nvPr/>
        </p:nvSpPr>
        <p:spPr>
          <a:xfrm>
            <a:off x="5789100" y="3680200"/>
            <a:ext cx="2992500" cy="97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595959"/>
                </a:solidFill>
                <a:latin typeface="Inter"/>
                <a:ea typeface="Inter"/>
                <a:cs typeface="Inter"/>
                <a:sym typeface="Inter"/>
              </a:rPr>
              <a:t>On Bia’s platform, clinicians have access to patient-reported outcome measures (MENQOL), symptom logs, patient’s questions and a full medical history.</a:t>
            </a:r>
            <a:endParaRPr sz="800">
              <a:solidFill>
                <a:srgbClr val="595959"/>
              </a:solidFill>
              <a:latin typeface="Inter"/>
              <a:ea typeface="Inter"/>
              <a:cs typeface="Inter"/>
              <a:sym typeface="Inter"/>
            </a:endParaRPr>
          </a:p>
        </p:txBody>
      </p:sp>
      <p:sp>
        <p:nvSpPr>
          <p:cNvPr id="121" name="Google Shape;121;p21"/>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Portal: Doctor view, patient records</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nvSpPr>
        <p:spPr>
          <a:xfrm>
            <a:off x="6736348" y="4526750"/>
            <a:ext cx="1911000" cy="97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800">
                <a:solidFill>
                  <a:srgbClr val="155B54"/>
                </a:solidFill>
                <a:latin typeface="Inter"/>
                <a:ea typeface="Inter"/>
                <a:cs typeface="Inter"/>
                <a:sym typeface="Inter"/>
              </a:rPr>
              <a:t>Personalised programmes</a:t>
            </a:r>
            <a:endParaRPr b="1" sz="800">
              <a:solidFill>
                <a:srgbClr val="155B54"/>
              </a:solidFill>
              <a:latin typeface="Inter"/>
              <a:ea typeface="Inter"/>
              <a:cs typeface="Inter"/>
              <a:sym typeface="Inter"/>
            </a:endParaRPr>
          </a:p>
        </p:txBody>
      </p:sp>
      <p:grpSp>
        <p:nvGrpSpPr>
          <p:cNvPr id="127" name="Google Shape;127;p22"/>
          <p:cNvGrpSpPr/>
          <p:nvPr/>
        </p:nvGrpSpPr>
        <p:grpSpPr>
          <a:xfrm>
            <a:off x="6621123" y="762045"/>
            <a:ext cx="2141449" cy="3659761"/>
            <a:chOff x="6621123" y="457245"/>
            <a:chExt cx="2141449" cy="3659761"/>
          </a:xfrm>
        </p:grpSpPr>
        <p:pic>
          <p:nvPicPr>
            <p:cNvPr id="128" name="Google Shape;128;p22"/>
            <p:cNvPicPr preferRelativeResize="0"/>
            <p:nvPr/>
          </p:nvPicPr>
          <p:blipFill>
            <a:blip r:embed="rId3">
              <a:alphaModFix/>
            </a:blip>
            <a:stretch>
              <a:fillRect/>
            </a:stretch>
          </p:blipFill>
          <p:spPr>
            <a:xfrm>
              <a:off x="6621123" y="457245"/>
              <a:ext cx="2141449" cy="3659761"/>
            </a:xfrm>
            <a:prstGeom prst="rect">
              <a:avLst/>
            </a:prstGeom>
            <a:noFill/>
            <a:ln>
              <a:noFill/>
            </a:ln>
          </p:spPr>
        </p:pic>
        <p:pic>
          <p:nvPicPr>
            <p:cNvPr id="129" name="Google Shape;129;p22"/>
            <p:cNvPicPr preferRelativeResize="0"/>
            <p:nvPr/>
          </p:nvPicPr>
          <p:blipFill>
            <a:blip r:embed="rId4">
              <a:alphaModFix/>
            </a:blip>
            <a:stretch>
              <a:fillRect/>
            </a:stretch>
          </p:blipFill>
          <p:spPr>
            <a:xfrm>
              <a:off x="6913391" y="862280"/>
              <a:ext cx="1539132" cy="2797400"/>
            </a:xfrm>
            <a:prstGeom prst="rect">
              <a:avLst/>
            </a:prstGeom>
            <a:noFill/>
            <a:ln cap="flat" cmpd="sng" w="9525">
              <a:solidFill>
                <a:srgbClr val="EFEFEF"/>
              </a:solidFill>
              <a:prstDash val="solid"/>
              <a:round/>
              <a:headEnd len="sm" w="sm" type="none"/>
              <a:tailEnd len="sm" w="sm" type="none"/>
            </a:ln>
          </p:spPr>
        </p:pic>
      </p:grpSp>
      <p:sp>
        <p:nvSpPr>
          <p:cNvPr id="130" name="Google Shape;130;p22"/>
          <p:cNvSpPr txBox="1"/>
          <p:nvPr/>
        </p:nvSpPr>
        <p:spPr>
          <a:xfrm>
            <a:off x="4649511" y="4526750"/>
            <a:ext cx="1911000" cy="97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800">
                <a:solidFill>
                  <a:srgbClr val="155B54"/>
                </a:solidFill>
                <a:latin typeface="Inter"/>
                <a:ea typeface="Inter"/>
                <a:cs typeface="Inter"/>
                <a:sym typeface="Inter"/>
              </a:rPr>
              <a:t>Progress</a:t>
            </a:r>
            <a:br>
              <a:rPr b="1" lang="en" sz="800">
                <a:solidFill>
                  <a:srgbClr val="155B54"/>
                </a:solidFill>
                <a:latin typeface="Inter"/>
                <a:ea typeface="Inter"/>
                <a:cs typeface="Inter"/>
                <a:sym typeface="Inter"/>
              </a:rPr>
            </a:br>
            <a:endParaRPr b="1" sz="800">
              <a:solidFill>
                <a:srgbClr val="155B54"/>
              </a:solidFill>
              <a:latin typeface="Inter"/>
              <a:ea typeface="Inter"/>
              <a:cs typeface="Inter"/>
              <a:sym typeface="Inter"/>
            </a:endParaRPr>
          </a:p>
        </p:txBody>
      </p:sp>
      <p:grpSp>
        <p:nvGrpSpPr>
          <p:cNvPr id="131" name="Google Shape;131;p22"/>
          <p:cNvGrpSpPr/>
          <p:nvPr/>
        </p:nvGrpSpPr>
        <p:grpSpPr>
          <a:xfrm>
            <a:off x="4534273" y="762045"/>
            <a:ext cx="2141449" cy="3659761"/>
            <a:chOff x="4534273" y="457245"/>
            <a:chExt cx="2141449" cy="3659761"/>
          </a:xfrm>
        </p:grpSpPr>
        <p:pic>
          <p:nvPicPr>
            <p:cNvPr id="132" name="Google Shape;132;p22"/>
            <p:cNvPicPr preferRelativeResize="0"/>
            <p:nvPr/>
          </p:nvPicPr>
          <p:blipFill>
            <a:blip r:embed="rId3">
              <a:alphaModFix/>
            </a:blip>
            <a:stretch>
              <a:fillRect/>
            </a:stretch>
          </p:blipFill>
          <p:spPr>
            <a:xfrm>
              <a:off x="4534273" y="457245"/>
              <a:ext cx="2141449" cy="3659761"/>
            </a:xfrm>
            <a:prstGeom prst="rect">
              <a:avLst/>
            </a:prstGeom>
            <a:noFill/>
            <a:ln>
              <a:noFill/>
            </a:ln>
          </p:spPr>
        </p:pic>
        <p:pic>
          <p:nvPicPr>
            <p:cNvPr id="133" name="Google Shape;133;p22"/>
            <p:cNvPicPr preferRelativeResize="0"/>
            <p:nvPr/>
          </p:nvPicPr>
          <p:blipFill rotWithShape="1">
            <a:blip r:embed="rId5">
              <a:alphaModFix/>
            </a:blip>
            <a:srcRect b="0" l="0" r="0" t="0"/>
            <a:stretch/>
          </p:blipFill>
          <p:spPr>
            <a:xfrm>
              <a:off x="4809698" y="873050"/>
              <a:ext cx="1590599" cy="2751460"/>
            </a:xfrm>
            <a:prstGeom prst="rect">
              <a:avLst/>
            </a:prstGeom>
            <a:noFill/>
            <a:ln cap="flat" cmpd="sng" w="9525">
              <a:solidFill>
                <a:srgbClr val="EFEFEF"/>
              </a:solidFill>
              <a:prstDash val="solid"/>
              <a:round/>
              <a:headEnd len="sm" w="sm" type="none"/>
              <a:tailEnd len="sm" w="sm" type="none"/>
            </a:ln>
          </p:spPr>
        </p:pic>
      </p:grpSp>
      <p:sp>
        <p:nvSpPr>
          <p:cNvPr id="134" name="Google Shape;134;p22"/>
          <p:cNvSpPr txBox="1"/>
          <p:nvPr/>
        </p:nvSpPr>
        <p:spPr>
          <a:xfrm>
            <a:off x="475823" y="4477800"/>
            <a:ext cx="1911000" cy="97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800">
                <a:solidFill>
                  <a:srgbClr val="155B54"/>
                </a:solidFill>
                <a:latin typeface="Inter"/>
                <a:ea typeface="Inter"/>
                <a:cs typeface="Inter"/>
                <a:sym typeface="Inter"/>
              </a:rPr>
              <a:t>Dashboard</a:t>
            </a:r>
            <a:br>
              <a:rPr b="1" lang="en" sz="800">
                <a:solidFill>
                  <a:srgbClr val="155B54"/>
                </a:solidFill>
                <a:latin typeface="Inter"/>
                <a:ea typeface="Inter"/>
                <a:cs typeface="Inter"/>
                <a:sym typeface="Inter"/>
              </a:rPr>
            </a:br>
            <a:endParaRPr b="1" sz="800">
              <a:solidFill>
                <a:srgbClr val="155B54"/>
              </a:solidFill>
              <a:latin typeface="Inter"/>
              <a:ea typeface="Inter"/>
              <a:cs typeface="Inter"/>
              <a:sym typeface="Inter"/>
            </a:endParaRPr>
          </a:p>
        </p:txBody>
      </p:sp>
      <p:sp>
        <p:nvSpPr>
          <p:cNvPr id="135" name="Google Shape;135;p22"/>
          <p:cNvSpPr txBox="1"/>
          <p:nvPr/>
        </p:nvSpPr>
        <p:spPr>
          <a:xfrm>
            <a:off x="2562648" y="4526750"/>
            <a:ext cx="1911000" cy="970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800">
                <a:solidFill>
                  <a:srgbClr val="155B54"/>
                </a:solidFill>
                <a:latin typeface="Inter"/>
                <a:ea typeface="Inter"/>
                <a:cs typeface="Inter"/>
                <a:sym typeface="Inter"/>
              </a:rPr>
              <a:t>Treatment plans</a:t>
            </a:r>
            <a:endParaRPr b="1" sz="800">
              <a:solidFill>
                <a:srgbClr val="155B54"/>
              </a:solidFill>
              <a:latin typeface="Inter"/>
              <a:ea typeface="Inter"/>
              <a:cs typeface="Inter"/>
              <a:sym typeface="Inter"/>
            </a:endParaRPr>
          </a:p>
          <a:p>
            <a:pPr indent="0" lvl="0" marL="0" rtl="0" algn="ctr">
              <a:lnSpc>
                <a:spcPct val="115000"/>
              </a:lnSpc>
              <a:spcBef>
                <a:spcPts val="0"/>
              </a:spcBef>
              <a:spcAft>
                <a:spcPts val="0"/>
              </a:spcAft>
              <a:buClr>
                <a:schemeClr val="dk1"/>
              </a:buClr>
              <a:buSzPts val="1100"/>
              <a:buFont typeface="Arial"/>
              <a:buNone/>
            </a:pPr>
            <a:r>
              <a:t/>
            </a:r>
            <a:endParaRPr b="1" sz="800">
              <a:solidFill>
                <a:srgbClr val="155B54"/>
              </a:solidFill>
              <a:latin typeface="Inter"/>
              <a:ea typeface="Inter"/>
              <a:cs typeface="Inter"/>
              <a:sym typeface="Inter"/>
            </a:endParaRPr>
          </a:p>
          <a:p>
            <a:pPr indent="0" lvl="0" marL="0" rtl="0" algn="ctr">
              <a:lnSpc>
                <a:spcPct val="115000"/>
              </a:lnSpc>
              <a:spcBef>
                <a:spcPts val="0"/>
              </a:spcBef>
              <a:spcAft>
                <a:spcPts val="0"/>
              </a:spcAft>
              <a:buClr>
                <a:schemeClr val="dk1"/>
              </a:buClr>
              <a:buSzPts val="1100"/>
              <a:buFont typeface="Arial"/>
              <a:buNone/>
            </a:pPr>
            <a:r>
              <a:t/>
            </a:r>
            <a:endParaRPr b="1" sz="800">
              <a:solidFill>
                <a:srgbClr val="155B54"/>
              </a:solidFill>
              <a:latin typeface="Inter"/>
              <a:ea typeface="Inter"/>
              <a:cs typeface="Inter"/>
              <a:sym typeface="Inter"/>
            </a:endParaRPr>
          </a:p>
        </p:txBody>
      </p:sp>
      <p:grpSp>
        <p:nvGrpSpPr>
          <p:cNvPr id="136" name="Google Shape;136;p22"/>
          <p:cNvGrpSpPr/>
          <p:nvPr/>
        </p:nvGrpSpPr>
        <p:grpSpPr>
          <a:xfrm>
            <a:off x="2447423" y="762045"/>
            <a:ext cx="2141449" cy="3659761"/>
            <a:chOff x="2447423" y="457245"/>
            <a:chExt cx="2141449" cy="3659761"/>
          </a:xfrm>
        </p:grpSpPr>
        <p:pic>
          <p:nvPicPr>
            <p:cNvPr id="137" name="Google Shape;137;p22"/>
            <p:cNvPicPr preferRelativeResize="0"/>
            <p:nvPr/>
          </p:nvPicPr>
          <p:blipFill>
            <a:blip r:embed="rId3">
              <a:alphaModFix/>
            </a:blip>
            <a:stretch>
              <a:fillRect/>
            </a:stretch>
          </p:blipFill>
          <p:spPr>
            <a:xfrm>
              <a:off x="2447423" y="457245"/>
              <a:ext cx="2141449" cy="3659761"/>
            </a:xfrm>
            <a:prstGeom prst="rect">
              <a:avLst/>
            </a:prstGeom>
            <a:noFill/>
            <a:ln>
              <a:noFill/>
            </a:ln>
          </p:spPr>
        </p:pic>
        <p:pic>
          <p:nvPicPr>
            <p:cNvPr id="138" name="Google Shape;138;p22"/>
            <p:cNvPicPr preferRelativeResize="0"/>
            <p:nvPr/>
          </p:nvPicPr>
          <p:blipFill rotWithShape="1">
            <a:blip r:embed="rId6">
              <a:alphaModFix/>
            </a:blip>
            <a:srcRect b="2761" l="0" r="0" t="0"/>
            <a:stretch/>
          </p:blipFill>
          <p:spPr>
            <a:xfrm>
              <a:off x="2709574" y="850075"/>
              <a:ext cx="1617159" cy="2797400"/>
            </a:xfrm>
            <a:prstGeom prst="rect">
              <a:avLst/>
            </a:prstGeom>
            <a:noFill/>
            <a:ln cap="flat" cmpd="sng" w="9525">
              <a:solidFill>
                <a:srgbClr val="EFEFEF"/>
              </a:solidFill>
              <a:prstDash val="solid"/>
              <a:round/>
              <a:headEnd len="sm" w="sm" type="none"/>
              <a:tailEnd len="sm" w="sm" type="none"/>
            </a:ln>
          </p:spPr>
        </p:pic>
      </p:grpSp>
      <p:grpSp>
        <p:nvGrpSpPr>
          <p:cNvPr id="139" name="Google Shape;139;p22"/>
          <p:cNvGrpSpPr/>
          <p:nvPr/>
        </p:nvGrpSpPr>
        <p:grpSpPr>
          <a:xfrm>
            <a:off x="360598" y="762045"/>
            <a:ext cx="2141449" cy="3659761"/>
            <a:chOff x="360598" y="457245"/>
            <a:chExt cx="2141449" cy="3659761"/>
          </a:xfrm>
        </p:grpSpPr>
        <p:pic>
          <p:nvPicPr>
            <p:cNvPr id="140" name="Google Shape;140;p22"/>
            <p:cNvPicPr preferRelativeResize="0"/>
            <p:nvPr/>
          </p:nvPicPr>
          <p:blipFill>
            <a:blip r:embed="rId3">
              <a:alphaModFix/>
            </a:blip>
            <a:stretch>
              <a:fillRect/>
            </a:stretch>
          </p:blipFill>
          <p:spPr>
            <a:xfrm>
              <a:off x="360598" y="457245"/>
              <a:ext cx="2141449" cy="3659761"/>
            </a:xfrm>
            <a:prstGeom prst="rect">
              <a:avLst/>
            </a:prstGeom>
            <a:noFill/>
            <a:ln>
              <a:noFill/>
            </a:ln>
          </p:spPr>
        </p:pic>
        <p:pic>
          <p:nvPicPr>
            <p:cNvPr id="141" name="Google Shape;141;p22"/>
            <p:cNvPicPr preferRelativeResize="0"/>
            <p:nvPr/>
          </p:nvPicPr>
          <p:blipFill>
            <a:blip r:embed="rId7">
              <a:alphaModFix/>
            </a:blip>
            <a:stretch>
              <a:fillRect/>
            </a:stretch>
          </p:blipFill>
          <p:spPr>
            <a:xfrm>
              <a:off x="636611" y="850081"/>
              <a:ext cx="1590593" cy="2797400"/>
            </a:xfrm>
            <a:prstGeom prst="rect">
              <a:avLst/>
            </a:prstGeom>
            <a:noFill/>
            <a:ln cap="flat" cmpd="sng" w="9525">
              <a:solidFill>
                <a:srgbClr val="EFEFEF"/>
              </a:solidFill>
              <a:prstDash val="solid"/>
              <a:round/>
              <a:headEnd len="sm" w="sm" type="none"/>
              <a:tailEnd len="sm" w="sm" type="none"/>
            </a:ln>
          </p:spPr>
        </p:pic>
      </p:grpSp>
      <p:sp>
        <p:nvSpPr>
          <p:cNvPr id="142" name="Google Shape;142;p22"/>
          <p:cNvSpPr txBox="1"/>
          <p:nvPr>
            <p:ph type="title"/>
          </p:nvPr>
        </p:nvSpPr>
        <p:spPr>
          <a:xfrm>
            <a:off x="311700" y="208375"/>
            <a:ext cx="4114500" cy="53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Dedicated menopause support</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nvSpPr>
        <p:spPr>
          <a:xfrm>
            <a:off x="6957338" y="4040700"/>
            <a:ext cx="1958400" cy="97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chemeClr val="dk2"/>
                </a:solidFill>
                <a:latin typeface="Inter"/>
                <a:ea typeface="Inter"/>
                <a:cs typeface="Inter"/>
                <a:sym typeface="Inter"/>
              </a:rPr>
              <a:t>User-tested redesign following extensive customer research to prioritise activation features and data collection.</a:t>
            </a:r>
            <a:endParaRPr sz="800">
              <a:solidFill>
                <a:srgbClr val="595959"/>
              </a:solidFill>
              <a:latin typeface="Inter"/>
              <a:ea typeface="Inter"/>
              <a:cs typeface="Inter"/>
              <a:sym typeface="Inter"/>
            </a:endParaRPr>
          </a:p>
        </p:txBody>
      </p:sp>
      <p:pic>
        <p:nvPicPr>
          <p:cNvPr id="148" name="Google Shape;148;p23"/>
          <p:cNvPicPr preferRelativeResize="0"/>
          <p:nvPr/>
        </p:nvPicPr>
        <p:blipFill>
          <a:blip r:embed="rId3">
            <a:alphaModFix/>
          </a:blip>
          <a:stretch>
            <a:fillRect/>
          </a:stretch>
        </p:blipFill>
        <p:spPr>
          <a:xfrm>
            <a:off x="304800" y="752650"/>
            <a:ext cx="6351249" cy="3570734"/>
          </a:xfrm>
          <a:prstGeom prst="rect">
            <a:avLst/>
          </a:prstGeom>
          <a:noFill/>
          <a:ln>
            <a:noFill/>
          </a:ln>
          <a:effectLst>
            <a:outerShdw blurRad="57150" rotWithShape="0" algn="bl" dir="5400000" dist="19050">
              <a:srgbClr val="000000">
                <a:alpha val="50000"/>
              </a:srgbClr>
            </a:outerShdw>
          </a:effectLst>
        </p:spPr>
      </p:pic>
      <p:sp>
        <p:nvSpPr>
          <p:cNvPr id="149" name="Google Shape;149;p23"/>
          <p:cNvSpPr txBox="1"/>
          <p:nvPr>
            <p:ph type="title"/>
          </p:nvPr>
        </p:nvSpPr>
        <p:spPr>
          <a:xfrm>
            <a:off x="212800" y="208375"/>
            <a:ext cx="4583700" cy="69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rgbClr val="17635E"/>
                </a:solidFill>
                <a:latin typeface="Inter"/>
                <a:ea typeface="Inter"/>
                <a:cs typeface="Inter"/>
                <a:sym typeface="Inter"/>
              </a:rPr>
              <a:t>Patient dashboard (pre-consultation):</a:t>
            </a:r>
            <a:endParaRPr sz="2200"/>
          </a:p>
          <a:p>
            <a:pPr indent="0" lvl="0" marL="0" rtl="0" algn="l">
              <a:spcBef>
                <a:spcPts val="0"/>
              </a:spcBef>
              <a:spcAft>
                <a:spcPts val="0"/>
              </a:spcAft>
              <a:buNone/>
            </a:pPr>
            <a:r>
              <a:t/>
            </a:r>
            <a:endParaRPr b="1" sz="1400">
              <a:solidFill>
                <a:srgbClr val="17635E"/>
              </a:solidFill>
              <a:latin typeface="Inter"/>
              <a:ea typeface="Inter"/>
              <a:cs typeface="Inter"/>
              <a:sym typeface="Inter"/>
            </a:endParaRPr>
          </a:p>
        </p:txBody>
      </p:sp>
      <p:grpSp>
        <p:nvGrpSpPr>
          <p:cNvPr id="150" name="Google Shape;150;p23"/>
          <p:cNvGrpSpPr/>
          <p:nvPr/>
        </p:nvGrpSpPr>
        <p:grpSpPr>
          <a:xfrm>
            <a:off x="6932311" y="398486"/>
            <a:ext cx="2008465" cy="3432490"/>
            <a:chOff x="360598" y="457245"/>
            <a:chExt cx="2141449" cy="3659761"/>
          </a:xfrm>
        </p:grpSpPr>
        <p:pic>
          <p:nvPicPr>
            <p:cNvPr id="151" name="Google Shape;151;p23"/>
            <p:cNvPicPr preferRelativeResize="0"/>
            <p:nvPr/>
          </p:nvPicPr>
          <p:blipFill>
            <a:blip r:embed="rId4">
              <a:alphaModFix/>
            </a:blip>
            <a:stretch>
              <a:fillRect/>
            </a:stretch>
          </p:blipFill>
          <p:spPr>
            <a:xfrm>
              <a:off x="360598" y="457245"/>
              <a:ext cx="2141449" cy="3659761"/>
            </a:xfrm>
            <a:prstGeom prst="rect">
              <a:avLst/>
            </a:prstGeom>
            <a:noFill/>
            <a:ln>
              <a:noFill/>
            </a:ln>
          </p:spPr>
        </p:pic>
        <p:pic>
          <p:nvPicPr>
            <p:cNvPr id="152" name="Google Shape;152;p23"/>
            <p:cNvPicPr preferRelativeResize="0"/>
            <p:nvPr/>
          </p:nvPicPr>
          <p:blipFill>
            <a:blip r:embed="rId5">
              <a:alphaModFix/>
            </a:blip>
            <a:stretch>
              <a:fillRect/>
            </a:stretch>
          </p:blipFill>
          <p:spPr>
            <a:xfrm>
              <a:off x="636611" y="850081"/>
              <a:ext cx="1590593" cy="2797400"/>
            </a:xfrm>
            <a:prstGeom prst="rect">
              <a:avLst/>
            </a:prstGeom>
            <a:noFill/>
            <a:ln cap="flat" cmpd="sng" w="9525">
              <a:solidFill>
                <a:srgbClr val="EFEFEF"/>
              </a:solidFill>
              <a:prstDash val="solid"/>
              <a:round/>
              <a:headEnd len="sm" w="sm" type="none"/>
              <a:tailEnd len="sm" w="sm" type="none"/>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nvSpPr>
        <p:spPr>
          <a:xfrm>
            <a:off x="6943675" y="4060975"/>
            <a:ext cx="1958400" cy="97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chemeClr val="dk2"/>
                </a:solidFill>
                <a:latin typeface="Inter"/>
                <a:ea typeface="Inter"/>
                <a:cs typeface="Inter"/>
                <a:sym typeface="Inter"/>
              </a:rPr>
              <a:t>Shows progress and insightful metrics based on aggregated data back to user at different journey points increasing engagement and treatment adherence.</a:t>
            </a:r>
            <a:endParaRPr sz="800">
              <a:solidFill>
                <a:srgbClr val="595959"/>
              </a:solidFill>
              <a:latin typeface="Inter"/>
              <a:ea typeface="Inter"/>
              <a:cs typeface="Inter"/>
              <a:sym typeface="Inter"/>
            </a:endParaRPr>
          </a:p>
        </p:txBody>
      </p:sp>
      <p:sp>
        <p:nvSpPr>
          <p:cNvPr id="158" name="Google Shape;158;p24"/>
          <p:cNvSpPr txBox="1"/>
          <p:nvPr>
            <p:ph type="title"/>
          </p:nvPr>
        </p:nvSpPr>
        <p:spPr>
          <a:xfrm>
            <a:off x="212800" y="208375"/>
            <a:ext cx="4583700" cy="69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Patient dashboard:</a:t>
            </a:r>
            <a:endParaRPr sz="2200"/>
          </a:p>
        </p:txBody>
      </p:sp>
      <p:pic>
        <p:nvPicPr>
          <p:cNvPr id="159" name="Google Shape;159;p24"/>
          <p:cNvPicPr preferRelativeResize="0"/>
          <p:nvPr/>
        </p:nvPicPr>
        <p:blipFill>
          <a:blip r:embed="rId3">
            <a:alphaModFix/>
          </a:blip>
          <a:stretch>
            <a:fillRect/>
          </a:stretch>
        </p:blipFill>
        <p:spPr>
          <a:xfrm>
            <a:off x="304800" y="752650"/>
            <a:ext cx="6467923" cy="3638207"/>
          </a:xfrm>
          <a:prstGeom prst="rect">
            <a:avLst/>
          </a:prstGeom>
          <a:noFill/>
          <a:ln>
            <a:noFill/>
          </a:ln>
          <a:effectLst>
            <a:outerShdw blurRad="57150" rotWithShape="0" algn="bl" dir="5400000" dist="19050">
              <a:srgbClr val="000000">
                <a:alpha val="50000"/>
              </a:srgbClr>
            </a:outerShdw>
          </a:effectLst>
        </p:spPr>
      </p:pic>
      <p:grpSp>
        <p:nvGrpSpPr>
          <p:cNvPr id="160" name="Google Shape;160;p24"/>
          <p:cNvGrpSpPr/>
          <p:nvPr/>
        </p:nvGrpSpPr>
        <p:grpSpPr>
          <a:xfrm>
            <a:off x="6919929" y="473881"/>
            <a:ext cx="2005896" cy="3428098"/>
            <a:chOff x="4534273" y="457245"/>
            <a:chExt cx="2141449" cy="3659761"/>
          </a:xfrm>
        </p:grpSpPr>
        <p:pic>
          <p:nvPicPr>
            <p:cNvPr id="161" name="Google Shape;161;p24"/>
            <p:cNvPicPr preferRelativeResize="0"/>
            <p:nvPr/>
          </p:nvPicPr>
          <p:blipFill>
            <a:blip r:embed="rId4">
              <a:alphaModFix/>
            </a:blip>
            <a:stretch>
              <a:fillRect/>
            </a:stretch>
          </p:blipFill>
          <p:spPr>
            <a:xfrm>
              <a:off x="4534273" y="457245"/>
              <a:ext cx="2141449" cy="3659761"/>
            </a:xfrm>
            <a:prstGeom prst="rect">
              <a:avLst/>
            </a:prstGeom>
            <a:noFill/>
            <a:ln>
              <a:noFill/>
            </a:ln>
          </p:spPr>
        </p:pic>
        <p:pic>
          <p:nvPicPr>
            <p:cNvPr id="162" name="Google Shape;162;p24"/>
            <p:cNvPicPr preferRelativeResize="0"/>
            <p:nvPr/>
          </p:nvPicPr>
          <p:blipFill rotWithShape="1">
            <a:blip r:embed="rId5">
              <a:alphaModFix/>
            </a:blip>
            <a:srcRect b="0" l="0" r="0" t="0"/>
            <a:stretch/>
          </p:blipFill>
          <p:spPr>
            <a:xfrm>
              <a:off x="4809698" y="873050"/>
              <a:ext cx="1590599" cy="2751460"/>
            </a:xfrm>
            <a:prstGeom prst="rect">
              <a:avLst/>
            </a:prstGeom>
            <a:noFill/>
            <a:ln cap="flat" cmpd="sng" w="9525">
              <a:solidFill>
                <a:srgbClr val="EFEFEF"/>
              </a:solidFill>
              <a:prstDash val="solid"/>
              <a:round/>
              <a:headEnd len="sm" w="sm" type="none"/>
              <a:tailEnd len="sm" w="sm" type="none"/>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nvSpPr>
        <p:spPr>
          <a:xfrm>
            <a:off x="7169050" y="3817700"/>
            <a:ext cx="1572900" cy="97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chemeClr val="dk2"/>
                </a:solidFill>
                <a:latin typeface="Inter"/>
                <a:ea typeface="Inter"/>
                <a:cs typeface="Inter"/>
                <a:sym typeface="Inter"/>
              </a:rPr>
              <a:t>Treatment page creates a one-stop menopause health history for patients. Including, access to guidance and support from coaches.</a:t>
            </a:r>
            <a:endParaRPr sz="800">
              <a:solidFill>
                <a:srgbClr val="595959"/>
              </a:solidFill>
              <a:latin typeface="Inter"/>
              <a:ea typeface="Inter"/>
              <a:cs typeface="Inter"/>
              <a:sym typeface="Inter"/>
            </a:endParaRPr>
          </a:p>
        </p:txBody>
      </p:sp>
      <p:sp>
        <p:nvSpPr>
          <p:cNvPr id="168" name="Google Shape;168;p25"/>
          <p:cNvSpPr txBox="1"/>
          <p:nvPr>
            <p:ph type="title"/>
          </p:nvPr>
        </p:nvSpPr>
        <p:spPr>
          <a:xfrm>
            <a:off x="212800" y="208375"/>
            <a:ext cx="4583700" cy="69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solidFill>
                  <a:srgbClr val="17635E"/>
                </a:solidFill>
                <a:latin typeface="Inter"/>
                <a:ea typeface="Inter"/>
                <a:cs typeface="Inter"/>
                <a:sym typeface="Inter"/>
              </a:rPr>
              <a:t>Patient treatment history:</a:t>
            </a:r>
            <a:endParaRPr sz="2200"/>
          </a:p>
          <a:p>
            <a:pPr indent="0" lvl="0" marL="0" rtl="0" algn="l">
              <a:spcBef>
                <a:spcPts val="0"/>
              </a:spcBef>
              <a:spcAft>
                <a:spcPts val="0"/>
              </a:spcAft>
              <a:buNone/>
            </a:pPr>
            <a:r>
              <a:t/>
            </a:r>
            <a:endParaRPr b="1" sz="1400">
              <a:solidFill>
                <a:srgbClr val="17635E"/>
              </a:solidFill>
              <a:latin typeface="Inter"/>
              <a:ea typeface="Inter"/>
              <a:cs typeface="Inter"/>
              <a:sym typeface="Inter"/>
            </a:endParaRPr>
          </a:p>
        </p:txBody>
      </p:sp>
      <p:pic>
        <p:nvPicPr>
          <p:cNvPr id="169" name="Google Shape;169;p25"/>
          <p:cNvPicPr preferRelativeResize="0"/>
          <p:nvPr/>
        </p:nvPicPr>
        <p:blipFill>
          <a:blip r:embed="rId3">
            <a:alphaModFix/>
          </a:blip>
          <a:stretch>
            <a:fillRect/>
          </a:stretch>
        </p:blipFill>
        <p:spPr>
          <a:xfrm>
            <a:off x="260900" y="728900"/>
            <a:ext cx="6555725" cy="3685675"/>
          </a:xfrm>
          <a:prstGeom prst="rect">
            <a:avLst/>
          </a:prstGeom>
          <a:noFill/>
          <a:ln>
            <a:noFill/>
          </a:ln>
          <a:effectLst>
            <a:outerShdw blurRad="57150" rotWithShape="0" algn="bl" dir="5400000" dist="19050">
              <a:srgbClr val="000000">
                <a:alpha val="50000"/>
              </a:srgbClr>
            </a:outerShdw>
          </a:effectLst>
        </p:spPr>
      </p:pic>
      <p:grpSp>
        <p:nvGrpSpPr>
          <p:cNvPr id="170" name="Google Shape;170;p25"/>
          <p:cNvGrpSpPr/>
          <p:nvPr/>
        </p:nvGrpSpPr>
        <p:grpSpPr>
          <a:xfrm>
            <a:off x="6984035" y="431469"/>
            <a:ext cx="1942937" cy="3320501"/>
            <a:chOff x="2447423" y="457245"/>
            <a:chExt cx="2141449" cy="3659761"/>
          </a:xfrm>
        </p:grpSpPr>
        <p:pic>
          <p:nvPicPr>
            <p:cNvPr id="171" name="Google Shape;171;p25"/>
            <p:cNvPicPr preferRelativeResize="0"/>
            <p:nvPr/>
          </p:nvPicPr>
          <p:blipFill>
            <a:blip r:embed="rId4">
              <a:alphaModFix/>
            </a:blip>
            <a:stretch>
              <a:fillRect/>
            </a:stretch>
          </p:blipFill>
          <p:spPr>
            <a:xfrm>
              <a:off x="2447423" y="457245"/>
              <a:ext cx="2141449" cy="3659761"/>
            </a:xfrm>
            <a:prstGeom prst="rect">
              <a:avLst/>
            </a:prstGeom>
            <a:noFill/>
            <a:ln>
              <a:noFill/>
            </a:ln>
          </p:spPr>
        </p:pic>
        <p:pic>
          <p:nvPicPr>
            <p:cNvPr id="172" name="Google Shape;172;p25"/>
            <p:cNvPicPr preferRelativeResize="0"/>
            <p:nvPr/>
          </p:nvPicPr>
          <p:blipFill rotWithShape="1">
            <a:blip r:embed="rId5">
              <a:alphaModFix/>
            </a:blip>
            <a:srcRect b="2761" l="0" r="0" t="0"/>
            <a:stretch/>
          </p:blipFill>
          <p:spPr>
            <a:xfrm>
              <a:off x="2709574" y="850075"/>
              <a:ext cx="1617159" cy="2797400"/>
            </a:xfrm>
            <a:prstGeom prst="rect">
              <a:avLst/>
            </a:prstGeom>
            <a:noFill/>
            <a:ln cap="flat" cmpd="sng" w="9525">
              <a:solidFill>
                <a:srgbClr val="EFEFEF"/>
              </a:solidFill>
              <a:prstDash val="solid"/>
              <a:round/>
              <a:headEnd len="sm" w="sm" type="none"/>
              <a:tailEnd len="sm" w="sm" type="none"/>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nvSpPr>
        <p:spPr>
          <a:xfrm>
            <a:off x="7041400" y="3952425"/>
            <a:ext cx="1911000" cy="97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solidFill>
                  <a:schemeClr val="dk2"/>
                </a:solidFill>
                <a:latin typeface="Inter"/>
                <a:ea typeface="Inter"/>
                <a:cs typeface="Inter"/>
                <a:sym typeface="Inter"/>
              </a:rPr>
              <a:t>Programmes tailored to the patient, depending on treatment plan medications initiated and lifestyle medicine treatments. Unlocks weekly.</a:t>
            </a:r>
            <a:endParaRPr sz="800">
              <a:solidFill>
                <a:srgbClr val="595959"/>
              </a:solidFill>
              <a:latin typeface="Inter"/>
              <a:ea typeface="Inter"/>
              <a:cs typeface="Inter"/>
              <a:sym typeface="Inter"/>
            </a:endParaRPr>
          </a:p>
        </p:txBody>
      </p:sp>
      <p:sp>
        <p:nvSpPr>
          <p:cNvPr id="178" name="Google Shape;178;p26"/>
          <p:cNvSpPr txBox="1"/>
          <p:nvPr>
            <p:ph type="title"/>
          </p:nvPr>
        </p:nvSpPr>
        <p:spPr>
          <a:xfrm>
            <a:off x="212800" y="208375"/>
            <a:ext cx="4583700" cy="69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rgbClr val="17635E"/>
                </a:solidFill>
                <a:latin typeface="Inter"/>
                <a:ea typeface="Inter"/>
                <a:cs typeface="Inter"/>
                <a:sym typeface="Inter"/>
              </a:rPr>
              <a:t>Personalised programmes</a:t>
            </a:r>
            <a:endParaRPr b="1" sz="1400">
              <a:solidFill>
                <a:srgbClr val="17635E"/>
              </a:solidFill>
              <a:latin typeface="Inter"/>
              <a:ea typeface="Inter"/>
              <a:cs typeface="Inter"/>
              <a:sym typeface="Inter"/>
            </a:endParaRPr>
          </a:p>
        </p:txBody>
      </p:sp>
      <p:pic>
        <p:nvPicPr>
          <p:cNvPr id="179" name="Google Shape;179;p26"/>
          <p:cNvPicPr preferRelativeResize="0"/>
          <p:nvPr/>
        </p:nvPicPr>
        <p:blipFill>
          <a:blip r:embed="rId3">
            <a:alphaModFix/>
          </a:blip>
          <a:stretch>
            <a:fillRect/>
          </a:stretch>
        </p:blipFill>
        <p:spPr>
          <a:xfrm>
            <a:off x="260900" y="728900"/>
            <a:ext cx="6555706" cy="3687576"/>
          </a:xfrm>
          <a:prstGeom prst="rect">
            <a:avLst/>
          </a:prstGeom>
          <a:noFill/>
          <a:ln>
            <a:noFill/>
          </a:ln>
          <a:effectLst>
            <a:outerShdw blurRad="57150" rotWithShape="0" algn="bl" dir="5400000" dist="19050">
              <a:srgbClr val="000000">
                <a:alpha val="50000"/>
              </a:srgbClr>
            </a:outerShdw>
          </a:effectLst>
        </p:spPr>
      </p:pic>
      <p:grpSp>
        <p:nvGrpSpPr>
          <p:cNvPr id="180" name="Google Shape;180;p26"/>
          <p:cNvGrpSpPr/>
          <p:nvPr/>
        </p:nvGrpSpPr>
        <p:grpSpPr>
          <a:xfrm>
            <a:off x="6986989" y="393461"/>
            <a:ext cx="2019815" cy="3451887"/>
            <a:chOff x="6621123" y="457245"/>
            <a:chExt cx="2141449" cy="3659761"/>
          </a:xfrm>
        </p:grpSpPr>
        <p:pic>
          <p:nvPicPr>
            <p:cNvPr id="181" name="Google Shape;181;p26"/>
            <p:cNvPicPr preferRelativeResize="0"/>
            <p:nvPr/>
          </p:nvPicPr>
          <p:blipFill>
            <a:blip r:embed="rId4">
              <a:alphaModFix/>
            </a:blip>
            <a:stretch>
              <a:fillRect/>
            </a:stretch>
          </p:blipFill>
          <p:spPr>
            <a:xfrm>
              <a:off x="6621123" y="457245"/>
              <a:ext cx="2141449" cy="3659761"/>
            </a:xfrm>
            <a:prstGeom prst="rect">
              <a:avLst/>
            </a:prstGeom>
            <a:noFill/>
            <a:ln>
              <a:noFill/>
            </a:ln>
          </p:spPr>
        </p:pic>
        <p:pic>
          <p:nvPicPr>
            <p:cNvPr id="182" name="Google Shape;182;p26"/>
            <p:cNvPicPr preferRelativeResize="0"/>
            <p:nvPr/>
          </p:nvPicPr>
          <p:blipFill>
            <a:blip r:embed="rId5">
              <a:alphaModFix/>
            </a:blip>
            <a:stretch>
              <a:fillRect/>
            </a:stretch>
          </p:blipFill>
          <p:spPr>
            <a:xfrm>
              <a:off x="6913391" y="862280"/>
              <a:ext cx="1539132" cy="2797400"/>
            </a:xfrm>
            <a:prstGeom prst="rect">
              <a:avLst/>
            </a:prstGeom>
            <a:noFill/>
            <a:ln cap="flat" cmpd="sng" w="9525">
              <a:solidFill>
                <a:srgbClr val="EFEFEF"/>
              </a:solidFill>
              <a:prstDash val="solid"/>
              <a:round/>
              <a:headEnd len="sm" w="sm" type="none"/>
              <a:tailEnd len="sm" w="sm" type="none"/>
            </a:ln>
          </p:spPr>
        </p:pic>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